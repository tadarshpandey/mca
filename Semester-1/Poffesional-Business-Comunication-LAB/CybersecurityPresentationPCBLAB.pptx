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052"/>
    <a:srgbClr val="2246F7"/>
    <a:srgbClr val="2245F7"/>
    <a:srgbClr val="03A2FE"/>
    <a:srgbClr val="5368FF"/>
    <a:srgbClr val="06639E"/>
    <a:srgbClr val="017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9D55-16EB-9C9D-C709-2FC286B9A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EB7BE-3ED9-A6D2-CDA5-DF00B63F4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F803D-D4B7-7B7F-BA11-A34D54617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D1911-280B-3941-CF17-7336448A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DB96-ED23-D2E3-29C2-82BBE560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75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1A0B-23AA-102F-4492-43B9AFCFC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E39B-D585-44D3-B657-9EDA4CF2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3A1EE-5C1C-AA34-2C25-1AEEACB27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2C9C6-3171-275F-CB7B-6945AADC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FD276-D770-7165-CB37-C37DF097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6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EBB7-B45E-39FE-7A36-57A29E7C1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BAF76-7C13-7A9A-AF66-D45A1047C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B7BB3-A61F-6499-9056-EB6E5416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7A3E6-E760-A96D-1644-0F0AB24F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CDD22-39B3-7D0A-C97C-1525B6D3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42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0A0AF-4D44-EC65-2AE0-A8D427B4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B885D-CE04-0C4E-AEE4-D1F4E3DA2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3CCAF-852F-1995-8860-6CF367699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3183F-4F60-E53F-DF8E-49B97888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46047-C793-89A7-869A-43E0D2E9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6831F-5C6F-5638-E59F-4915B4046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9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30784-C3E1-CC38-9E9A-1CF84005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298EB-8F94-2B18-25CF-F1CF1B5A9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4E793-B0DE-3A5E-DB22-EDAB49C91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601B8-737A-DBA9-CC3A-3D8DFD145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539A3C-522D-9445-6F7D-3C7675571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387F4C-9AC6-CC1B-0A20-BFCA20B59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5E0BD-449B-BB2F-678B-E5E72BA9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CFA8E-D247-3BC8-BF6B-9F14B709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10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5C62A-AB70-0ED1-E751-12149D17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7C08D-4700-8B45-DBEA-5CBC7B687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47DCD-A380-AC39-EED0-9A3C1B69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27A13-4F06-C570-9EB5-80AC5A2E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473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8E771-6336-CDB0-AA61-FA016BB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99019-8CF9-223D-9D34-ACA0E325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5D57B-D717-E3CB-1389-94F5F4E6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10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B8AB-BE28-0E27-1BCA-81E75DF8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70506-3EC1-10F8-B434-1C7BC4831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0C6D3-02AF-D460-3DB3-60FF7AC49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2E424-E58A-39B4-534F-091AFC57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BB408-E79E-A2E8-8AC7-C5B515D85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92A40-77BB-B4B7-88F4-6F05ACF7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93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0180B-5465-1EBC-DE26-F6488746C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38CF33-0CFC-2932-6B70-C278D7620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046B0-8B3D-3B16-6DB9-E22575A0E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26D1F-1068-850E-A234-3167ACBB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59433-BA97-58E6-AB1C-643AC3AF9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91E91-1566-E257-B44A-80B349C4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53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636B-A794-60C4-09C9-E666B5D98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D3D95-5ACA-02C2-42AD-4C2F486B0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14D68-3990-57AF-AD22-0B4E2D5D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3641-3FC2-C9B9-8930-FDEECEA31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0C0E8-3EAC-6FDC-D87C-8CF867F8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72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7980D-DAD6-34A3-CFB3-162D6E54C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66EFE-8E7D-9272-19CB-20329CA61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78DF6-9520-D3C3-9CBB-415775EF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BA9BA-869B-1608-05C8-3C7E24DF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B460C-8C28-E4F4-7781-CC905491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553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AB80AC-DCBE-1518-B592-5479DF084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BF6CA-4553-CD00-3790-11D4871AE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C1F33-82DE-DF29-AD8D-7C9E15BF9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F345A-AC90-4193-AB31-FFD1E62750FE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90624-A8FB-E533-0480-4446F34B6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4E465-FCE6-BCBF-8366-0CAD6EDBD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985BF-C7EA-4ADD-A662-862AC4B4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88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3A6C8C-0DA9-EF4F-6CDF-335408A58A36}"/>
              </a:ext>
            </a:extLst>
          </p:cNvPr>
          <p:cNvSpPr txBox="1"/>
          <p:nvPr/>
        </p:nvSpPr>
        <p:spPr>
          <a:xfrm>
            <a:off x="412954" y="449825"/>
            <a:ext cx="5958349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>
              <a:latin typeface="+mj-lt"/>
            </a:endParaRPr>
          </a:p>
          <a:p>
            <a:r>
              <a:rPr lang="en-US" sz="4400" b="1" dirty="0">
                <a:latin typeface="+mj-lt"/>
              </a:rPr>
              <a:t>“Data is today’s most valuable asset — and the most targeted.”</a:t>
            </a:r>
            <a:endParaRPr lang="en-IN" sz="4400" b="1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r>
              <a:rPr lang="en-IN" sz="2000" b="1" dirty="0">
                <a:latin typeface="+mj-lt"/>
              </a:rPr>
              <a:t>Name:</a:t>
            </a:r>
            <a:r>
              <a:rPr lang="en-IN" sz="2000" dirty="0">
                <a:latin typeface="+mj-lt"/>
              </a:rPr>
              <a:t> Adarsh Pandey</a:t>
            </a:r>
          </a:p>
          <a:p>
            <a:r>
              <a:rPr lang="en-IN" sz="2000" b="1" dirty="0">
                <a:latin typeface="+mj-lt"/>
              </a:rPr>
              <a:t>Subject: PCB LAB</a:t>
            </a:r>
            <a:endParaRPr lang="en-IN" sz="2000" dirty="0">
              <a:latin typeface="+mj-lt"/>
            </a:endParaRPr>
          </a:p>
          <a:p>
            <a:r>
              <a:rPr lang="en-IN" sz="2000" b="1" dirty="0">
                <a:latin typeface="+mj-lt"/>
              </a:rPr>
              <a:t>Topic: </a:t>
            </a:r>
            <a:r>
              <a:rPr lang="en-IN" sz="2000" dirty="0">
                <a:solidFill>
                  <a:srgbClr val="042052"/>
                </a:solidFill>
                <a:latin typeface="+mj-lt"/>
              </a:rPr>
              <a:t>Cybersecurity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&amp; Real-World Corporate Incidents</a:t>
            </a:r>
          </a:p>
          <a:p>
            <a:endParaRPr lang="en-IN" sz="20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69152D-2994-C192-BD01-4AC5153CE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444" y="-39398"/>
            <a:ext cx="5594556" cy="689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37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FFA5-B2E0-FE3E-7F5C-97BEE400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5619" cy="1080217"/>
          </a:xfrm>
        </p:spPr>
        <p:txBody>
          <a:bodyPr/>
          <a:lstStyle/>
          <a:p>
            <a:r>
              <a:rPr lang="en-IN" b="1" dirty="0"/>
              <a:t>Cybersecurity?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EE4355-4349-11E9-8B5B-1FF8FDE7FF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062"/>
            <a:ext cx="538561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Protects systems, networks, and data from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digital attacks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subset of Information Security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(which includes physical &amp; digital protection).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Goals —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CIA Triad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>
                <a:latin typeface="+mj-lt"/>
              </a:rPr>
              <a:t>  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Confidentiality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Keep data private.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Integrity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Keep data accurate.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Availability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Keep systems running.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AA451C-1D32-5DEB-5665-90E4A1AB0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466" y="1060578"/>
            <a:ext cx="6106534" cy="473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9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4454-A72E-1E5B-0118-15EA0F5EE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62600" cy="1070383"/>
          </a:xfrm>
        </p:spPr>
        <p:txBody>
          <a:bodyPr/>
          <a:lstStyle/>
          <a:p>
            <a:r>
              <a:rPr lang="en-IN" b="1" dirty="0"/>
              <a:t>Why Cybersecurity?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AF493-753E-ED2E-3723-F3142350E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220" y="1809134"/>
            <a:ext cx="3674806" cy="4351338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+mj-lt"/>
              </a:rPr>
              <a:t>Corporates hold valuable customer &amp; financial data.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Breaches lead to </a:t>
            </a:r>
            <a:r>
              <a:rPr lang="en-US" sz="2000" b="1" dirty="0">
                <a:latin typeface="+mj-lt"/>
              </a:rPr>
              <a:t>financial loss, reputation damage, and legal penalties.</a:t>
            </a:r>
          </a:p>
          <a:p>
            <a:endParaRPr lang="en-US" sz="2000" b="1" dirty="0">
              <a:latin typeface="+mj-lt"/>
            </a:endParaRPr>
          </a:p>
          <a:p>
            <a:r>
              <a:rPr lang="en-US" sz="2000" dirty="0">
                <a:latin typeface="+mj-lt"/>
              </a:rPr>
              <a:t>India saw </a:t>
            </a:r>
            <a:r>
              <a:rPr lang="en-US" sz="2000" b="1" dirty="0">
                <a:latin typeface="+mj-lt"/>
              </a:rPr>
              <a:t>over 2 million cyberattacks in 2023</a:t>
            </a:r>
            <a:r>
              <a:rPr lang="en-US" sz="2000" dirty="0">
                <a:latin typeface="+mj-lt"/>
              </a:rPr>
              <a:t> (CERT-In).</a:t>
            </a:r>
          </a:p>
          <a:p>
            <a:endParaRPr lang="en-US" sz="2000" dirty="0">
              <a:latin typeface="+mj-lt"/>
            </a:endParaRPr>
          </a:p>
          <a:p>
            <a:r>
              <a:rPr lang="en-IN" sz="2000" dirty="0">
                <a:latin typeface="+mj-lt"/>
              </a:rPr>
              <a:t>Key domains: </a:t>
            </a:r>
            <a:r>
              <a:rPr lang="en-IN" sz="2000" b="1" dirty="0">
                <a:latin typeface="+mj-lt"/>
              </a:rPr>
              <a:t>Network, Cloud, Application, Endpoint, Incident Response.</a:t>
            </a:r>
            <a:endParaRPr lang="en-IN" sz="20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45FA8-1616-E7DB-7BB4-511CFBBAA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045" y="1435508"/>
            <a:ext cx="7524955" cy="423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2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E3D3-A49F-BBF7-7E44-5C7C1FFE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22442"/>
            <a:ext cx="4785852" cy="1325563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Case Study 1: AIIMS Delhi Ransomware Attack (2022)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D2BC3-8D29-963F-DA38-07D4010BC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7" y="2277298"/>
            <a:ext cx="4894006" cy="395574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+mj-lt"/>
              </a:rPr>
              <a:t>Type:</a:t>
            </a:r>
            <a:r>
              <a:rPr lang="en-US" sz="2000" dirty="0">
                <a:latin typeface="+mj-lt"/>
              </a:rPr>
              <a:t> Ransomware (systems locked, ransom demanded).</a:t>
            </a:r>
          </a:p>
          <a:p>
            <a:r>
              <a:rPr lang="en-US" sz="2000" b="1" dirty="0">
                <a:latin typeface="+mj-lt"/>
              </a:rPr>
              <a:t>Impact:</a:t>
            </a:r>
            <a:r>
              <a:rPr lang="en-US" sz="2000" dirty="0">
                <a:latin typeface="+mj-lt"/>
              </a:rPr>
              <a:t> 1.3 TB data encrypted; hospital services down for 2 weeks.</a:t>
            </a:r>
          </a:p>
          <a:p>
            <a:r>
              <a:rPr lang="en-US" sz="2000" b="1" dirty="0">
                <a:latin typeface="+mj-lt"/>
              </a:rPr>
              <a:t>Weaknesses exploited:</a:t>
            </a:r>
            <a:endParaRPr lang="en-US" sz="2000" dirty="0">
              <a:latin typeface="+mj-lt"/>
            </a:endParaRPr>
          </a:p>
          <a:p>
            <a:pPr lvl="1"/>
            <a:r>
              <a:rPr lang="en-US" sz="2000" dirty="0">
                <a:latin typeface="+mj-lt"/>
              </a:rPr>
              <a:t>Outdated servers (5 compromised).</a:t>
            </a:r>
          </a:p>
          <a:p>
            <a:pPr lvl="1"/>
            <a:r>
              <a:rPr lang="en-US" sz="2000" dirty="0">
                <a:latin typeface="+mj-lt"/>
              </a:rPr>
              <a:t>Poor network segmentation.</a:t>
            </a:r>
          </a:p>
          <a:p>
            <a:pPr lvl="1"/>
            <a:r>
              <a:rPr lang="en-US" sz="2000" dirty="0">
                <a:latin typeface="+mj-lt"/>
              </a:rPr>
              <a:t>Weak backup &amp; access control.</a:t>
            </a:r>
          </a:p>
          <a:p>
            <a:r>
              <a:rPr lang="en-US" sz="2000" b="1" dirty="0">
                <a:latin typeface="+mj-lt"/>
              </a:rPr>
              <a:t>Lesson:</a:t>
            </a:r>
            <a:r>
              <a:rPr lang="en-US" sz="2000" dirty="0">
                <a:latin typeface="+mj-lt"/>
              </a:rPr>
              <a:t> Regular patching, isolated backups, stronger IAM.</a:t>
            </a:r>
            <a:endParaRPr lang="en-IN" sz="20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C5E7C-D288-DF6B-70DF-4ADD6554B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072" y="826169"/>
            <a:ext cx="6337928" cy="52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962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9B06-98FC-8F7E-F433-2353712F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483340"/>
          </a:xfrm>
        </p:spPr>
        <p:txBody>
          <a:bodyPr>
            <a:normAutofit/>
          </a:bodyPr>
          <a:lstStyle/>
          <a:p>
            <a:r>
              <a:rPr lang="en-US" sz="3600" b="1" dirty="0"/>
              <a:t>Case Study 2: Juspay Data Breach (2020)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51FF-28DD-B6D6-ED33-0C1B4B986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5110"/>
            <a:ext cx="5257800" cy="417118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+mj-lt"/>
              </a:rPr>
              <a:t>Sector:</a:t>
            </a:r>
            <a:r>
              <a:rPr lang="en-US" sz="2000" dirty="0">
                <a:latin typeface="+mj-lt"/>
              </a:rPr>
              <a:t> FinTech (payment gateway for Amazon, Swiggy, etc.)</a:t>
            </a:r>
          </a:p>
          <a:p>
            <a:r>
              <a:rPr lang="en-US" sz="2000" b="1" dirty="0">
                <a:latin typeface="+mj-lt"/>
              </a:rPr>
              <a:t>Breach:</a:t>
            </a:r>
            <a:r>
              <a:rPr lang="en-US" sz="2000" dirty="0">
                <a:latin typeface="+mj-lt"/>
              </a:rPr>
              <a:t> 3.5 crore customer records leaked to dark web.</a:t>
            </a:r>
          </a:p>
          <a:p>
            <a:r>
              <a:rPr lang="en-US" sz="2000" b="1" dirty="0">
                <a:latin typeface="+mj-lt"/>
              </a:rPr>
              <a:t>Cause:</a:t>
            </a:r>
            <a:r>
              <a:rPr lang="en-US" sz="2000" dirty="0">
                <a:latin typeface="+mj-lt"/>
              </a:rPr>
              <a:t> Developer’s leaked AWS access key.</a:t>
            </a:r>
          </a:p>
          <a:p>
            <a:r>
              <a:rPr lang="en-US" sz="2000" b="1" dirty="0">
                <a:latin typeface="+mj-lt"/>
              </a:rPr>
              <a:t>Impact:</a:t>
            </a:r>
            <a:r>
              <a:rPr lang="en-US" sz="2000" dirty="0">
                <a:latin typeface="+mj-lt"/>
              </a:rPr>
              <a:t> Exposed phone numbers, emails, masked card data.</a:t>
            </a:r>
          </a:p>
          <a:p>
            <a:r>
              <a:rPr lang="en-US" sz="2000" b="1" dirty="0">
                <a:latin typeface="+mj-lt"/>
              </a:rPr>
              <a:t>Lesson:</a:t>
            </a:r>
            <a:r>
              <a:rPr lang="en-US" sz="2000" dirty="0">
                <a:latin typeface="+mj-lt"/>
              </a:rPr>
              <a:t> Secure cloud IAM, rotate credentials, audit access.</a:t>
            </a:r>
            <a:endParaRPr lang="en-IN" sz="20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09DED2-71FB-C613-6318-1E2FDCBCF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699" y="448532"/>
            <a:ext cx="5975301" cy="596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79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B598B-F634-0492-E69B-75A8012D1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>
            <a:normAutofit/>
          </a:bodyPr>
          <a:lstStyle/>
          <a:p>
            <a:r>
              <a:rPr lang="en-IN" sz="4000" b="1" dirty="0"/>
              <a:t>Key Learnings &amp;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E2CAF-E402-FC96-C2E8-1A3F0D7A5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56903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Keep systems </a:t>
            </a:r>
            <a:r>
              <a:rPr lang="en-US" sz="2000" b="1" dirty="0">
                <a:latin typeface="+mj-lt"/>
              </a:rPr>
              <a:t>patched and updated.</a:t>
            </a:r>
          </a:p>
          <a:p>
            <a:endParaRPr lang="en-US" sz="2000" b="1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Encrypt</a:t>
            </a:r>
            <a:r>
              <a:rPr lang="en-US" sz="2000" dirty="0">
                <a:latin typeface="+mj-lt"/>
              </a:rPr>
              <a:t> sensitive data; maintain </a:t>
            </a:r>
            <a:r>
              <a:rPr lang="en-US" sz="2000" b="1" dirty="0">
                <a:latin typeface="+mj-lt"/>
              </a:rPr>
              <a:t>offline backups.</a:t>
            </a:r>
          </a:p>
          <a:p>
            <a:endParaRPr lang="en-US" sz="2000" b="1" dirty="0">
              <a:latin typeface="+mj-lt"/>
            </a:endParaRPr>
          </a:p>
          <a:p>
            <a:r>
              <a:rPr lang="en-IN" sz="2000" b="1" dirty="0">
                <a:latin typeface="+mj-lt"/>
              </a:rPr>
              <a:t>Limit privileges</a:t>
            </a:r>
            <a:r>
              <a:rPr lang="en-IN" sz="2000" dirty="0">
                <a:latin typeface="+mj-lt"/>
              </a:rPr>
              <a:t> — least-access policy.</a:t>
            </a:r>
          </a:p>
          <a:p>
            <a:endParaRPr lang="en-IN" sz="2000" dirty="0">
              <a:latin typeface="+mj-lt"/>
            </a:endParaRPr>
          </a:p>
          <a:p>
            <a:r>
              <a:rPr lang="en-IN" sz="2000" dirty="0">
                <a:latin typeface="+mj-lt"/>
              </a:rPr>
              <a:t>Conduct </a:t>
            </a:r>
            <a:r>
              <a:rPr lang="en-IN" sz="2000" b="1" dirty="0">
                <a:latin typeface="+mj-lt"/>
              </a:rPr>
              <a:t>employee awareness training.</a:t>
            </a:r>
          </a:p>
          <a:p>
            <a:endParaRPr lang="en-IN" sz="2000" b="1" dirty="0">
              <a:latin typeface="+mj-lt"/>
            </a:endParaRPr>
          </a:p>
          <a:p>
            <a:r>
              <a:rPr lang="en-US" sz="2000" dirty="0">
                <a:latin typeface="+mj-lt"/>
              </a:rPr>
              <a:t>Prepare an </a:t>
            </a:r>
            <a:r>
              <a:rPr lang="en-US" sz="2000" b="1" dirty="0">
                <a:latin typeface="+mj-lt"/>
              </a:rPr>
              <a:t>incident response plan.</a:t>
            </a:r>
            <a:endParaRPr lang="en-IN" sz="20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E4BA7-BD39-AF72-8006-362077651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103" y="480551"/>
            <a:ext cx="5896897" cy="589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29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B5CE-A420-3D32-07A8-DF052284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6C222-DCF6-1C0E-54A8-8F3AC90D3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76604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Cybersecurity = </a:t>
            </a:r>
            <a:r>
              <a:rPr lang="en-US" sz="2000" b="1" dirty="0">
                <a:latin typeface="+mj-lt"/>
              </a:rPr>
              <a:t>business survival</a:t>
            </a:r>
            <a:r>
              <a:rPr lang="en-US" sz="2000" dirty="0">
                <a:latin typeface="+mj-lt"/>
              </a:rPr>
              <a:t>, not just IT.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India’s attacks show how one weakness can halt operations.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“It takes years to build trust, but one breach to lose it.”</a:t>
            </a:r>
            <a:endParaRPr lang="en-IN" sz="20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9195C-8D9C-6B8F-6293-6BC96F84A2ED}"/>
              </a:ext>
            </a:extLst>
          </p:cNvPr>
          <p:cNvSpPr txBox="1"/>
          <p:nvPr/>
        </p:nvSpPr>
        <p:spPr>
          <a:xfrm>
            <a:off x="6331359" y="2061593"/>
            <a:ext cx="5022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68EEC3-66D8-8C94-97CD-BA4CB01738A3}"/>
              </a:ext>
            </a:extLst>
          </p:cNvPr>
          <p:cNvSpPr txBox="1"/>
          <p:nvPr/>
        </p:nvSpPr>
        <p:spPr>
          <a:xfrm>
            <a:off x="4695517" y="4801348"/>
            <a:ext cx="2800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52035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Cybersecurity?</vt:lpstr>
      <vt:lpstr>Why Cybersecurity?</vt:lpstr>
      <vt:lpstr>Case Study 1: AIIMS Delhi Ransomware Attack (2022)</vt:lpstr>
      <vt:lpstr>Case Study 2: Juspay Data Breach (2020)</vt:lpstr>
      <vt:lpstr>Key Learnings &amp; Prevention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Pandey</dc:creator>
  <cp:lastModifiedBy>Adarsh Pandey</cp:lastModifiedBy>
  <cp:revision>1</cp:revision>
  <dcterms:created xsi:type="dcterms:W3CDTF">2025-11-07T18:58:10Z</dcterms:created>
  <dcterms:modified xsi:type="dcterms:W3CDTF">2025-11-07T18:58:39Z</dcterms:modified>
</cp:coreProperties>
</file>